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1097280"/>
            <a:ext cx="4114800" cy="4114800"/>
          </a:xfrm>
          <a:prstGeom prst="ellipse">
            <a:avLst/>
          </a:prstGeom>
          <a:solidFill>
            <a:srgbClr val="14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4480560"/>
            <a:ext cx="3474720" cy="3474720"/>
          </a:xfrm>
          <a:prstGeom prst="ellipse">
            <a:avLst/>
          </a:prstGeom>
          <a:solidFill>
            <a:srgbClr val="1E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371600" y="4754880"/>
            <a:ext cx="3200400" cy="3200400"/>
          </a:xfrm>
          <a:prstGeom prst="ellipse">
            <a:avLst/>
          </a:prstGeom>
          <a:solidFill>
            <a:srgbClr val="14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109728" cy="2377440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FFC83D"/>
                </a:solidFill>
                <a:latin typeface="Calibri"/>
              </a:rPr>
              <a:t>РСХБ · СВОЁ ЖИЛЬЁ</a:t>
            </a:r>
          </a:p>
          <a:p>
            <a:pPr algn="l"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Путь к своему дому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CFE8D6"/>
                </a:solidFill>
                <a:latin typeface="Calibri"/>
              </a:rPr>
              <a:t>Цифровая платформа: три сервиса в одном приложении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4846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A8CCB2"/>
                </a:solidFill>
                <a:latin typeface="Calibri"/>
              </a:rPr>
              <a:t>Стипендиальная программа РСХБ 2026–2027 · Направление «Информационные технологии»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A8CCB2"/>
                </a:solidFill>
                <a:latin typeface="Calibri"/>
              </a:rPr>
              <a:t>Задачи 1–3: симулятор «Что, если…?» · интерактивный навигатор · «Жизнь после ипотеки»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Одна платформа — три задачи конкурса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D8F0DE"/>
                </a:solidFill>
                <a:latin typeface="Calibri"/>
              </a:rPr>
              <a:t>Full-stack веб-приложение: фронтенд + бэкенд + PostgreSQL +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FFC83D"/>
                </a:solidFill>
                <a:latin typeface="Calibri"/>
              </a:rP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566160" cy="3017520"/>
          </a:xfrm>
          <a:prstGeom prst="round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329184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E9E4A"/>
                </a:solidFill>
                <a:latin typeface="Calibri"/>
              </a:rPr>
              <a:t>Задача 1 · Симулятор «Что, если…?»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• 6 финансовых сценариев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• Досрочка, ремонт, аренда, стройка, сельская ипотека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• Платёж, срок, переплата, бюджет — онлайн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• Формулы настраиваются администратором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554480"/>
            <a:ext cx="3566160" cy="3017520"/>
          </a:xfrm>
          <a:prstGeom prst="round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53128" y="1645920"/>
            <a:ext cx="329184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E9E4A"/>
                </a:solidFill>
                <a:latin typeface="Calibri"/>
              </a:rPr>
              <a:t>Задача 2 · Навигатор пути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• 7 адаптивных маршрутов клиента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• Квартира, дом, участок, стройка, ремонт, с/и, новостройка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• 42 шага · 238 пунктов чек-листов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• Прогресс сохраняется на сервере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74736" y="1554480"/>
            <a:ext cx="3566160" cy="3017520"/>
          </a:xfrm>
          <a:prstGeom prst="round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1896" y="1645920"/>
            <a:ext cx="329184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E9E4A"/>
                </a:solidFill>
                <a:latin typeface="Calibri"/>
              </a:rPr>
              <a:t>Задача 3 · Жизнь после ипотеки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• 10 сервисов после оформления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• Досрочка, вычеты, справки, страхование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• Гость — демо-данные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• Клиент ЛК — банковский контур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9204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9E4A"/>
                </a:solidFill>
                <a:latin typeface="Calibri"/>
              </a:rPr>
              <a:t>Технологии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B5E"/>
                </a:solidFill>
                <a:latin typeface="Calibri"/>
              </a:rPr>
              <a:t>Python · FastAPI · SQLAlchemy · PostgreSQL · Docker · REST API · SPA без сборки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Архитектура системы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D8F0DE"/>
                </a:solidFill>
                <a:latin typeface="Calibri"/>
              </a:rPr>
              <a:t>Классическая трёхслойная: клиент → API → данные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FFC83D"/>
                </a:solidFill>
                <a:latin typeface="Calibri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881360" cy="1143000"/>
          </a:xfrm>
          <a:prstGeom prst="roundRect">
            <a:avLst/>
          </a:prstGeom>
          <a:solidFill>
            <a:srgbClr val="1E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C83D"/>
                </a:solidFill>
                <a:latin typeface="Calibri"/>
              </a:rPr>
              <a:t>КЛИЕНТ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572768"/>
            <a:ext cx="8321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frontend/index.html — SPA: 3 модуля-вкладки, fetch к REST API, без npm-сборки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88920"/>
            <a:ext cx="10881360" cy="1143000"/>
          </a:xfrm>
          <a:prstGeom prst="roundRect">
            <a:avLst/>
          </a:prstGeom>
          <a:solidFill>
            <a:srgbClr val="14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98648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C83D"/>
                </a:solidFill>
                <a:latin typeface="Calibri"/>
              </a:rPr>
              <a:t>API · 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898648"/>
            <a:ext cx="8321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3 роутера (sim / nav / life) · Pydantic-валидация · Swagger /docs · CORS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14800"/>
            <a:ext cx="10881360" cy="1143000"/>
          </a:xfrm>
          <a:prstGeom prst="roundRect">
            <a:avLst/>
          </a:prstGeom>
          <a:solidFill>
            <a:srgbClr val="14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24528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C83D"/>
                </a:solidFill>
                <a:latin typeface="Calibri"/>
              </a:rPr>
              <a:t>ДОМЕН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224528"/>
            <a:ext cx="8321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finance.py: safe_eval на AST — формулы администратора без eval() · фин. функции аннуитета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440680"/>
            <a:ext cx="10881360" cy="1143000"/>
          </a:xfrm>
          <a:prstGeom prst="roundRect">
            <a:avLst/>
          </a:prstGeom>
          <a:solidFill>
            <a:srgbClr val="1E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50408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C83D"/>
                </a:solidFill>
                <a:latin typeface="Calibri"/>
              </a:rPr>
              <a:t>ДАННЫЕ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5550408"/>
            <a:ext cx="8321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SQLAlchemy ORM · 8 таблиц · SQLite (dev) / PostgreSQL 16 (Docker) · идемпотентные сиды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943600" y="2606040"/>
            <a:ext cx="320040" cy="182880"/>
          </a:xfrm>
          <a:prstGeom prst="downArrow">
            <a:avLst/>
          </a:prstGeom>
          <a:solidFill>
            <a:srgbClr val="5A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5943600" y="3931920"/>
            <a:ext cx="320040" cy="182880"/>
          </a:xfrm>
          <a:prstGeom prst="downArrow">
            <a:avLst/>
          </a:prstGeom>
          <a:solidFill>
            <a:srgbClr val="5A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5943600" y="5257800"/>
            <a:ext cx="320040" cy="182880"/>
          </a:xfrm>
          <a:prstGeom prst="downArrow">
            <a:avLst/>
          </a:prstGeom>
          <a:solidFill>
            <a:srgbClr val="5A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C83D"/>
                </a:solidFill>
                <a:latin typeface="Calibri"/>
              </a:rPr>
              <a:t>ЗАДАЧА 1</a:t>
            </a:r>
          </a:p>
          <a:p>
            <a:pPr algn="l"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Симулятор финансовых сценариев «Что, если…?»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E6F6EA"/>
                </a:solidFill>
                <a:latin typeface="Calibri"/>
              </a:rPr>
              <a:t>Моделирование ипотечных и строительных сценариев: досрочный платёж, кредит на ремонт, сдача в аренду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Задача 1 · Шесть сценариев моделирования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D8F0DE"/>
                </a:solidFill>
                <a:latin typeface="Calibri"/>
              </a:rPr>
              <a:t>Каждый пересчитывает платёж, срок, переплоту и бюджет мгновенно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FFC83D"/>
                </a:solidFill>
                <a:latin typeface="Calibri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566160" cy="2011680"/>
          </a:xfrm>
          <a:prstGeom prst="round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E9E4A"/>
                </a:solidFill>
                <a:latin typeface="Calibri"/>
              </a:rPr>
              <a:t>Базовая ипотека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• Цена, взнос, ставка, срок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• Аннуитетный платёж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• Переплата и ДТІ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554480"/>
            <a:ext cx="3566160" cy="2011680"/>
          </a:xfrm>
          <a:prstGeom prst="round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53128" y="16459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E9E4A"/>
                </a:solidFill>
                <a:latin typeface="Calibri"/>
              </a:rPr>
              <a:t>Досрочное погашение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• Взнос → срок короче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• Экономия на процентах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• Сокращение срока vs платежа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74736" y="1554480"/>
            <a:ext cx="3566160" cy="2011680"/>
          </a:xfrm>
          <a:prstGeom prst="round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1896" y="16459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E9E4A"/>
                </a:solidFill>
                <a:latin typeface="Calibri"/>
              </a:rPr>
              <a:t>Кредит на ремонт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• Отдельный кредит на ремонт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• Суммарная нагрузка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• Остаток бюджета семьи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3566160" cy="2011680"/>
          </a:xfrm>
          <a:prstGeom prst="round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9319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E9E4A"/>
                </a:solidFill>
                <a:latin typeface="Calibri"/>
              </a:rPr>
              <a:t>Сдача в аренду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• Доход с простоем и НПД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• Кэшфлоу в месяц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• Окупаемость и доходность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3840480"/>
            <a:ext cx="3566160" cy="2011680"/>
          </a:xfrm>
          <a:prstGeom prst="round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39319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E9E4A"/>
                </a:solidFill>
                <a:latin typeface="Calibri"/>
              </a:rPr>
              <a:t>Строительство дома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• Транши по этапам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• Проценты на стройке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• Платёж после ввода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3840480"/>
            <a:ext cx="3566160" cy="2011680"/>
          </a:xfrm>
          <a:prstGeom prst="round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39319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E9E4A"/>
                </a:solidFill>
                <a:latin typeface="Calibri"/>
              </a:rPr>
              <a:t>Сельская ипотека 3%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• Ставка 3% против рынка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• Экономия в месяц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• Экономия за весь срок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Задача 1 · Формулы и параметры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D8F0DE"/>
                </a:solidFill>
                <a:latin typeface="Calibri"/>
              </a:rPr>
              <a:t>Ядро — аннуитетная модель; всё задаётся данными, а не кодом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FFC83D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E9E4A"/>
                </a:solidFill>
                <a:latin typeface="Calibri"/>
              </a:rPr>
              <a:t>Финансовое ядро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5A6B5E"/>
                </a:solidFill>
                <a:latin typeface="Consolas"/>
              </a:rPr>
              <a:t>платёж:  P = S · i·(1+i)ⁿ / ((1+i)ⁿ − 1)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5A6B5E"/>
                </a:solidFill>
                <a:latin typeface="Consolas"/>
              </a:rPr>
              <a:t>срок:     n = ln(P/(P − S·i)) / ln(1+i)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5A6B5E"/>
                </a:solidFill>
                <a:latin typeface="Consolas"/>
              </a:rPr>
              <a:t>переплата: Ov = P·n − S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E9E4A"/>
                </a:solidFill>
                <a:latin typeface="Calibri"/>
              </a:rPr>
              <a:t>Дополнительные модели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5A6B5E"/>
                </a:solidFill>
                <a:latin typeface="Calibri"/>
              </a:rPr>
              <a:t>• Аренда: простой (вакантность), управление, налог НПД 4%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5A6B5E"/>
                </a:solidFill>
                <a:latin typeface="Calibri"/>
              </a:rPr>
              <a:t>• Стройка: транши → проценты периода → платёж после ввода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5A6B5E"/>
                </a:solidFill>
                <a:latin typeface="Calibri"/>
              </a:rPr>
              <a:t>• Вычеты: 13% с лимитами 2 млн (покупка) и 3 млн (проценты)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5A6B5E"/>
                </a:solidFill>
                <a:latin typeface="Calibri"/>
              </a:rPr>
              <a:t>• ДТІ = платёж / доход — индикатор долговой нагрузки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508760"/>
            <a:ext cx="5212080" cy="4389120"/>
          </a:xfrm>
          <a:prstGeom prst="roundRect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6916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FFC83D"/>
                </a:solidFill>
                <a:latin typeface="Calibri"/>
              </a:rPr>
              <a:t>Пример: досрочный платёж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Ввод: долг 4,8 млн · 14% · платёж 61 000 ₽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Досрочно: 500 000 ₽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FFC83D"/>
                </a:solidFill>
                <a:latin typeface="Calibri"/>
              </a:rPr>
              <a:t>−67 месяцев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FE8D6"/>
                </a:solidFill>
                <a:latin typeface="Calibri"/>
              </a:rPr>
              <a:t>срок короче на 5,5 лет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FFC83D"/>
                </a:solidFill>
                <a:latin typeface="Calibri"/>
              </a:rPr>
              <a:t>−3 566 215 ₽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FE8D6"/>
                </a:solidFill>
                <a:latin typeface="Calibri"/>
              </a:rPr>
              <a:t>экономия на процентах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Задача 1 · Настройка администратором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D8F0DE"/>
                </a:solidFill>
                <a:latin typeface="Calibri"/>
              </a:rPr>
              <a:t>Новые сценарии, формулы, параметры и подсказки — без программиста и деплоя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FFC83D"/>
                </a:solidFill>
                <a:latin typeface="Calibri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11064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E9E4A"/>
                </a:solidFill>
                <a:latin typeface="Calibri"/>
              </a:rPr>
              <a:t>1 · Сценарий как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600200"/>
            <a:ext cx="7406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Сценарий хранится в PostgreSQL: параметры, формулы, подсказки — JSON. CRUD через REST.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15768"/>
            <a:ext cx="11064240" cy="1051560"/>
          </a:xfrm>
          <a:prstGeom prst="roundRect">
            <a:avLst/>
          </a:prstGeom>
          <a:solidFill>
            <a:srgbClr val="F2F7F3"/>
          </a:solidFill>
          <a:ln w="12700">
            <a:solidFill>
              <a:srgbClr val="1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07208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E9E4A"/>
                </a:solidFill>
                <a:latin typeface="Calibri"/>
              </a:rPr>
              <a:t>2 · safe_eval вместо 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807208"/>
            <a:ext cx="7406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Формула — строка. Исполнение: AST-разбор Python и обход с белым списком. Без eval, импортов, доступа к ОС.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22776"/>
            <a:ext cx="11064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014215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E9E4A"/>
                </a:solidFill>
                <a:latin typeface="Calibri"/>
              </a:rPr>
              <a:t>3 · Изоляция расчётов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4014215"/>
            <a:ext cx="7406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Ошибка одной формулы не рушит сценарий: строка помечается ошибкой, остальные считаются.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129783"/>
            <a:ext cx="11064240" cy="1051560"/>
          </a:xfrm>
          <a:prstGeom prst="roundRect">
            <a:avLst/>
          </a:prstGeom>
          <a:solidFill>
            <a:srgbClr val="F2F7F3"/>
          </a:solidFill>
          <a:ln w="12700">
            <a:solidFill>
              <a:srgbClr val="1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221223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E9E4A"/>
                </a:solidFill>
                <a:latin typeface="Calibri"/>
              </a:rPr>
              <a:t>4 · Умные подсказки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5221223"/>
            <a:ext cx="7406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У подсказки есть condition — выражение от переменных: предупреждение при ДТІ &gt; 50% и т.п.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C83D"/>
                </a:solidFill>
                <a:latin typeface="Calibri"/>
              </a:rPr>
              <a:t>ЗАДАЧА 2</a:t>
            </a:r>
          </a:p>
          <a:p>
            <a:pPr algn="l"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Интерактивный навигатор «Путь к своему дому»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E6F6EA"/>
                </a:solidFill>
                <a:latin typeface="Calibri"/>
              </a:rPr>
              <a:t>От выбора недвижимости до сделки и обустройства — 7 адаптивных сценариев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Задача 2 · Шесть этапов пути клиента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D8F0DE"/>
                </a:solidFill>
                <a:latin typeface="Calibri"/>
              </a:rPr>
              <a:t>Единый каркас, который адаптируется под сценарий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FFC83D"/>
                </a:solidFill>
                <a:latin typeface="Calibri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00200"/>
            <a:ext cx="3611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09928"/>
            <a:ext cx="3246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E9E4A"/>
                </a:solidFill>
                <a:latin typeface="Calibri"/>
              </a:rPr>
              <a:t>1. Выбор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5A6B5E"/>
                </a:solidFill>
                <a:latin typeface="Calibri"/>
              </a:rPr>
              <a:t>Бюджет, район, параметры объекта, просмотры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00200"/>
            <a:ext cx="3611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709928"/>
            <a:ext cx="3246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E9E4A"/>
                </a:solidFill>
                <a:latin typeface="Calibri"/>
              </a:rPr>
              <a:t>2. Финансы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5A6B5E"/>
                </a:solidFill>
                <a:latin typeface="Calibri"/>
              </a:rPr>
              <a:t>Взнос, программа, одобрение, структура платежей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600200"/>
            <a:ext cx="3611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59" y="1709928"/>
            <a:ext cx="3246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E9E4A"/>
                </a:solidFill>
                <a:latin typeface="Calibri"/>
              </a:rPr>
              <a:t>3. Проверка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5A6B5E"/>
                </a:solidFill>
                <a:latin typeface="Calibri"/>
              </a:rPr>
              <a:t>Документы, обременения, юр. чистота, оценка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749039"/>
            <a:ext cx="3611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858768"/>
            <a:ext cx="3246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E9E4A"/>
                </a:solidFill>
                <a:latin typeface="Calibri"/>
              </a:rPr>
              <a:t>4. Сделка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5A6B5E"/>
                </a:solidFill>
                <a:latin typeface="Calibri"/>
              </a:rPr>
              <a:t>Договор, аккредитив/эскроу, расчёты, подписание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749039"/>
            <a:ext cx="3611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858768"/>
            <a:ext cx="3246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E9E4A"/>
                </a:solidFill>
                <a:latin typeface="Calibri"/>
              </a:rPr>
              <a:t>5. Регистрация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5A6B5E"/>
                </a:solidFill>
                <a:latin typeface="Calibri"/>
              </a:rPr>
              <a:t>Росреестр, право собственности, выписка ЕГРН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3749039"/>
            <a:ext cx="3611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3858768"/>
            <a:ext cx="3246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E9E4A"/>
                </a:solidFill>
                <a:latin typeface="Calibri"/>
              </a:rPr>
              <a:t>6. Обустройство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5A6B5E"/>
                </a:solidFill>
                <a:latin typeface="Calibri"/>
              </a:rPr>
              <a:t>Ремонт, страхование, переезд, налоги и вычеты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8064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9E4A"/>
                </a:solidFill>
                <a:latin typeface="Calibri"/>
              </a:rPr>
              <a:t>Каждый этап раскрыт в шаги с чек-листами, советами и предупреждениями «на чужих ошибках»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Задача 2 · Семь сценариев — семь разных маршрутов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D8F0DE"/>
                </a:solidFill>
                <a:latin typeface="Calibri"/>
              </a:rPr>
              <a:t>Маршрут перестраивается: этапы те же, наполнение уникально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FFC83D"/>
                </a:solidFill>
                <a:latin typeface="Calibri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112471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45336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E9E4A"/>
                </a:solidFill>
                <a:latin typeface="Calibri"/>
              </a:rPr>
              <a:t>Квартира (вторичка)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54533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34 пункта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54533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Проверка дома, подвала, истории продаж, торг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48840"/>
            <a:ext cx="11247120" cy="594360"/>
          </a:xfrm>
          <a:prstGeom prst="roundRect">
            <a:avLst/>
          </a:prstGeom>
          <a:solidFill>
            <a:srgbClr val="F2F7F3"/>
          </a:solidFill>
          <a:ln w="12700">
            <a:solidFill>
              <a:srgbClr val="CC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31136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E9E4A"/>
                </a:solidFill>
                <a:latin typeface="Calibri"/>
              </a:rPr>
              <a:t>Частный дом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23113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38 пунктов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3113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Техпаспорт, границы, коммуникации, договор ЭСО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34640"/>
            <a:ext cx="112471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916936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E9E4A"/>
                </a:solidFill>
                <a:latin typeface="Calibri"/>
              </a:rPr>
              <a:t>Участок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91693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32 пункта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1693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Межевание, ВРИ, категории земель, подъезд, ЛЭП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520440"/>
            <a:ext cx="11247120" cy="594360"/>
          </a:xfrm>
          <a:prstGeom prst="roundRect">
            <a:avLst/>
          </a:prstGeom>
          <a:solidFill>
            <a:srgbClr val="F2F7F3"/>
          </a:solidFill>
          <a:ln w="12700">
            <a:solidFill>
              <a:srgbClr val="CC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602736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E9E4A"/>
                </a:solidFill>
                <a:latin typeface="Calibri"/>
              </a:rPr>
              <a:t>Строительство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60273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36 пунктов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60273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Проект, смета, транши, надзор, ввод в эксплуатацию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206240"/>
            <a:ext cx="112471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288536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E9E4A"/>
                </a:solidFill>
                <a:latin typeface="Calibri"/>
              </a:rPr>
              <a:t>Ремонт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28853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31 пункт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28853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Сметы, чеки, узаконивание перепланировки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892040"/>
            <a:ext cx="11247120" cy="594360"/>
          </a:xfrm>
          <a:prstGeom prst="roundRect">
            <a:avLst/>
          </a:prstGeom>
          <a:solidFill>
            <a:srgbClr val="F2F7F3"/>
          </a:solidFill>
          <a:ln w="12700">
            <a:solidFill>
              <a:srgbClr val="CC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974336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E9E4A"/>
                </a:solidFill>
                <a:latin typeface="Calibri"/>
              </a:rPr>
              <a:t>Сельская ипотека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97433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31 пункт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97433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Проверка села в программе, ставка 3%, лимиты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577840"/>
            <a:ext cx="112471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660136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E9E4A"/>
                </a:solidFill>
                <a:latin typeface="Calibri"/>
              </a:rPr>
              <a:t>Готовый объект (новостройка)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566013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34 пункта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66013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214-ФЗ, эскроу, приёмка, дефекты, ключи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Задача 2 · Как навигатор меняет шаги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D8F0DE"/>
                </a:solidFill>
                <a:latin typeface="Calibri"/>
              </a:rPr>
              <a:t>Пример: этап «Проверка» в трёх сценариях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FFC83D"/>
                </a:solidFill>
                <a:latin typeface="Calibri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0876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E9E4A"/>
                </a:solidFill>
                <a:latin typeface="Calibri"/>
              </a:rPr>
              <a:t>Квартира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80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• Выписка ЕГРН: собственники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• История переходов права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• Долги по ЖКХ, справка об отсутствии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• Неузаконенные перепланировки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• Проверка дома: подвал, крыша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50876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E9E4A"/>
                </a:solidFill>
                <a:latin typeface="Calibri"/>
              </a:rPr>
              <a:t>Участок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21945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80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• Межевое дело, границы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• ВРИ по ПЗЗ — можно строить?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• Категория земель: СНТ/ИЖС/ЛПХ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• Обременения: ЛЭП, газ, охранные зоны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• Проезд — круглогодичный?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74736" y="150876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7615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E9E4A"/>
                </a:solidFill>
                <a:latin typeface="Calibri"/>
              </a:rPr>
              <a:t>Стройка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7615" y="21945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80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• Права на участок и ВРИ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• ГПЗУ: пятно застройки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• Проект и смета — экспертиза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• Договор подряда: этапы, штрафы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• Учёт траншей по документам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9E4A"/>
                </a:solidFill>
                <a:latin typeface="Calibri"/>
              </a:rPr>
              <a:t>Все 21 пара сценариев различаются — проверено автотестом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Задача 2 · Режим сравнения сценариев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D8F0DE"/>
                </a:solidFill>
                <a:latin typeface="Calibri"/>
              </a:rPr>
              <a:t>Матрица: этап × сценарий, уникальные шаги подсвечены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FFC83D"/>
                </a:solidFill>
                <a:latin typeface="Calibri"/>
              </a:rPr>
              <a:t>09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0170"/>
                <a:gridCol w="1360170"/>
                <a:gridCol w="1360170"/>
                <a:gridCol w="1360170"/>
                <a:gridCol w="1360170"/>
                <a:gridCol w="1360170"/>
                <a:gridCol w="1360170"/>
                <a:gridCol w="1360170"/>
              </a:tblGrid>
              <a:tr h="6583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Этап</a:t>
                      </a:r>
                    </a:p>
                  </a:txBody>
                  <a:tcPr>
                    <a:solidFill>
                      <a:srgbClr val="1E9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Кв.</a:t>
                      </a:r>
                    </a:p>
                  </a:txBody>
                  <a:tcPr>
                    <a:solidFill>
                      <a:srgbClr val="1E9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Дом</a:t>
                      </a:r>
                    </a:p>
                  </a:txBody>
                  <a:tcPr>
                    <a:solidFill>
                      <a:srgbClr val="1E9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Уч.</a:t>
                      </a:r>
                    </a:p>
                  </a:txBody>
                  <a:tcPr>
                    <a:solidFill>
                      <a:srgbClr val="1E9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Стр.</a:t>
                      </a:r>
                    </a:p>
                  </a:txBody>
                  <a:tcPr>
                    <a:solidFill>
                      <a:srgbClr val="1E9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Рем.</a:t>
                      </a:r>
                    </a:p>
                  </a:txBody>
                  <a:tcPr>
                    <a:solidFill>
                      <a:srgbClr val="1E9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С/И</a:t>
                      </a:r>
                    </a:p>
                  </a:txBody>
                  <a:tcPr>
                    <a:solidFill>
                      <a:srgbClr val="1E9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Нов.</a:t>
                      </a:r>
                    </a:p>
                  </a:txBody>
                  <a:tcPr>
                    <a:solidFill>
                      <a:srgbClr val="1E9E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A6B5E"/>
                          </a:solidFill>
                        </a:rPr>
                        <a:t>Выбор</a:t>
                      </a:r>
                    </a:p>
                  </a:txBody>
                  <a:tcPr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A6B5E"/>
                          </a:solidFill>
                        </a:rPr>
                        <a:t>Кв.</a:t>
                      </a:r>
                    </a:p>
                  </a:txBody>
                  <a:tcPr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A6B5E"/>
                          </a:solidFill>
                        </a:rPr>
                        <a:t>Дом</a:t>
                      </a:r>
                    </a:p>
                  </a:txBody>
                  <a:tcPr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A6B5E"/>
                          </a:solidFill>
                        </a:rPr>
                        <a:t>Уч.</a:t>
                      </a:r>
                    </a:p>
                  </a:txBody>
                  <a:tcPr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A6B5E"/>
                          </a:solidFill>
                        </a:rPr>
                        <a:t>Стр.</a:t>
                      </a:r>
                    </a:p>
                  </a:txBody>
                  <a:tcPr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A6B5E"/>
                          </a:solidFill>
                        </a:rPr>
                        <a:t>Рем.</a:t>
                      </a:r>
                    </a:p>
                  </a:txBody>
                  <a:tcPr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A6B5E"/>
                          </a:solidFill>
                        </a:rPr>
                        <a:t>С/И</a:t>
                      </a:r>
                    </a:p>
                  </a:txBody>
                  <a:tcPr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A6B5E"/>
                          </a:solidFill>
                        </a:rPr>
                        <a:t>Нов.</a:t>
                      </a:r>
                    </a:p>
                  </a:txBody>
                  <a:tcPr>
                    <a:solidFill>
                      <a:srgbClr val="F2F7F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A6B5E"/>
                          </a:solidFill>
                        </a:rPr>
                        <a:t>Финансы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A6B5E"/>
                          </a:solidFill>
                        </a:rPr>
                        <a:t>Ип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A6B5E"/>
                          </a:solidFill>
                        </a:rPr>
                        <a:t>Ип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A6B5E"/>
                          </a:solidFill>
                        </a:rPr>
                        <a:t>Уч-Ип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A6B5E"/>
                          </a:solidFill>
                        </a:rPr>
                        <a:t>Стр-кр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A6B5E"/>
                          </a:solidFill>
                        </a:rPr>
                        <a:t>Рем-кр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A6B5E"/>
                          </a:solidFill>
                        </a:rPr>
                        <a:t>С/И 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A6B5E"/>
                          </a:solidFill>
                        </a:rPr>
                        <a:t>Эскр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A6B5E"/>
                          </a:solidFill>
                        </a:rPr>
                        <a:t>Проверка</a:t>
                      </a:r>
                    </a:p>
                  </a:txBody>
                  <a:tcPr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A6B5E"/>
                          </a:solidFill>
                        </a:rPr>
                        <a:t>ЕГРН</a:t>
                      </a:r>
                    </a:p>
                  </a:txBody>
                  <a:tcPr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A6B5E"/>
                          </a:solidFill>
                        </a:rPr>
                        <a:t>ТП+Г</a:t>
                      </a:r>
                    </a:p>
                  </a:txBody>
                  <a:tcPr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A6B5E"/>
                          </a:solidFill>
                        </a:rPr>
                        <a:t>Меж</a:t>
                      </a:r>
                    </a:p>
                  </a:txBody>
                  <a:tcPr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A6B5E"/>
                          </a:solidFill>
                        </a:rPr>
                        <a:t>ГПЗУ</a:t>
                      </a:r>
                    </a:p>
                  </a:txBody>
                  <a:tcPr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A6B5E"/>
                          </a:solidFill>
                        </a:rPr>
                        <a:t>Сметы</a:t>
                      </a:r>
                    </a:p>
                  </a:txBody>
                  <a:tcPr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A6B5E"/>
                          </a:solidFill>
                        </a:rPr>
                        <a:t>Село</a:t>
                      </a:r>
                    </a:p>
                  </a:txBody>
                  <a:tcPr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A6B5E"/>
                          </a:solidFill>
                        </a:rPr>
                        <a:t>214-ФЗ</a:t>
                      </a:r>
                    </a:p>
                  </a:txBody>
                  <a:tcPr>
                    <a:solidFill>
                      <a:srgbClr val="F2F7F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A6B5E"/>
                          </a:solidFill>
                        </a:rPr>
                        <a:t>Сделка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A6B5E"/>
                          </a:solidFill>
                        </a:rPr>
                        <a:t>Аккр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A6B5E"/>
                          </a:solidFill>
                        </a:rPr>
                        <a:t>Аккр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A6B5E"/>
                          </a:solidFill>
                        </a:rPr>
                        <a:t>Аккр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A6B5E"/>
                          </a:solidFill>
                        </a:rPr>
                        <a:t>Подр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A6B5E"/>
                          </a:solidFill>
                        </a:rPr>
                        <a:t>Дог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A6B5E"/>
                          </a:solidFill>
                        </a:rPr>
                        <a:t>Аккр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A6B5E"/>
                          </a:solidFill>
                        </a:rPr>
                        <a:t>Эскроу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21208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5E"/>
                </a:solidFill>
                <a:latin typeface="Calibri"/>
              </a:rPr>
              <a:t>Красным в интерфейсе подсвечены шаги, уникальные для сценария — сразу видно различие маршрутов.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5E"/>
                </a:solidFill>
                <a:latin typeface="Calibri"/>
              </a:rPr>
              <a:t>Прогресс отмечается в чек-листах и хранится на сервере (PostgreSQL), доступен с любого устройства.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C83D"/>
                </a:solidFill>
                <a:latin typeface="Calibri"/>
              </a:rPr>
              <a:t>ЗАДАЧА 3</a:t>
            </a:r>
          </a:p>
          <a:p>
            <a:pPr algn="l"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Модуль «Жизнь после ипотеки»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E6F6EA"/>
                </a:solidFill>
                <a:latin typeface="Calibri"/>
              </a:rPr>
              <a:t>Что делать после оформления: платежи, вычеты, справки, страхование и сервисы банка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Задача 3 · Десять сервисов после ипотеки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D8F0DE"/>
                </a:solidFill>
                <a:latin typeface="Calibri"/>
              </a:rPr>
              <a:t>Каждый — с инструкцией, документами и калькулятором где уместно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FFC83D"/>
                </a:solidFill>
                <a:latin typeface="Calibri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212140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709928"/>
            <a:ext cx="190195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9E4A"/>
                </a:solidFill>
                <a:latin typeface="Calibri"/>
              </a:rPr>
              <a:t>⚡ Досрочное погашение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5A6B5E"/>
                </a:solidFill>
                <a:latin typeface="Calibri"/>
              </a:rPr>
              <a:t>Сократить срок или платёж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61488" y="1600200"/>
            <a:ext cx="212140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71216" y="1709928"/>
            <a:ext cx="190195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9E4A"/>
                </a:solidFill>
                <a:latin typeface="Calibri"/>
              </a:rPr>
              <a:t>📅 Изменение условия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5A6B5E"/>
                </a:solidFill>
                <a:latin typeface="Calibri"/>
              </a:rPr>
              <a:t>Срок ↔ платёж, льготные каникулы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5776" y="1600200"/>
            <a:ext cx="212140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5504" y="1709928"/>
            <a:ext cx="190195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9E4A"/>
                </a:solidFill>
                <a:latin typeface="Calibri"/>
              </a:rPr>
              <a:t>🧾 Налоговый вычет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5A6B5E"/>
                </a:solidFill>
                <a:latin typeface="Calibri"/>
              </a:rPr>
              <a:t>13%: покупка + проценты, до 650 т.р.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70064" y="1600200"/>
            <a:ext cx="212140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9792" y="1709928"/>
            <a:ext cx="190195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9E4A"/>
                </a:solidFill>
                <a:latin typeface="Calibri"/>
              </a:rPr>
              <a:t>📄 Справки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5A6B5E"/>
                </a:solidFill>
                <a:latin typeface="Calibri"/>
              </a:rPr>
              <a:t>Остаток долга, проценты для ФНС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74352" y="1600200"/>
            <a:ext cx="212140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0" y="1709928"/>
            <a:ext cx="190195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9E4A"/>
                </a:solidFill>
                <a:latin typeface="Calibri"/>
              </a:rPr>
              <a:t>🛡 Страхование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5A6B5E"/>
                </a:solidFill>
                <a:latin typeface="Calibri"/>
              </a:rPr>
              <a:t>Продление вовремя: иначе +1 п.п.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80"/>
            <a:ext cx="212140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950208"/>
            <a:ext cx="190195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9E4A"/>
                </a:solidFill>
                <a:latin typeface="Calibri"/>
              </a:rPr>
              <a:t>💳 Рефинансирование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5A6B5E"/>
                </a:solidFill>
                <a:latin typeface="Calibri"/>
              </a:rPr>
              <a:t>Когда выгодно, когда нет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61488" y="3840480"/>
            <a:ext cx="212140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71216" y="3950208"/>
            <a:ext cx="190195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9E4A"/>
                </a:solidFill>
                <a:latin typeface="Calibri"/>
              </a:rPr>
              <a:t>🔔 Платежи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5A6B5E"/>
                </a:solidFill>
                <a:latin typeface="Calibri"/>
              </a:rPr>
              <a:t>Автоплатёж, даты, просрочки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65776" y="3840480"/>
            <a:ext cx="212140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75504" y="3950208"/>
            <a:ext cx="190195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9E4A"/>
                </a:solidFill>
                <a:latin typeface="Calibri"/>
              </a:rPr>
              <a:t>👨‍👩‍👧 Материнский капитал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5A6B5E"/>
                </a:solidFill>
                <a:latin typeface="Calibri"/>
              </a:rPr>
              <a:t>Погашение, обязательство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70064" y="3840480"/>
            <a:ext cx="212140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9792" y="3950208"/>
            <a:ext cx="190195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9E4A"/>
                </a:solidFill>
                <a:latin typeface="Calibri"/>
              </a:rPr>
              <a:t>🌍 Господдержка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5A6B5E"/>
                </a:solidFill>
                <a:latin typeface="Calibri"/>
              </a:rPr>
              <a:t>Семейная, сельская, IT-ипотека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74352" y="3840480"/>
            <a:ext cx="212140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3950208"/>
            <a:ext cx="190195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9E4A"/>
                </a:solidFill>
                <a:latin typeface="Calibri"/>
              </a:rPr>
              <a:t>📞 Сервисы банка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5A6B5E"/>
                </a:solidFill>
                <a:latin typeface="Calibri"/>
              </a:rPr>
              <a:t>Поддержка, отделения, партнёры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Задача 3 · Гость и авторизованный клиент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D8F0DE"/>
                </a:solidFill>
                <a:latin typeface="Calibri"/>
              </a:rPr>
              <a:t>Два контура данных в одном модуле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FFC83D"/>
                </a:solidFill>
                <a:latin typeface="Calibri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3949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5A6B5E"/>
                </a:solidFill>
                <a:latin typeface="Calibri"/>
              </a:rPr>
              <a:t>ГОСТЬ · публичный сайт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5A6B5E"/>
                </a:solidFill>
                <a:latin typeface="Calibri"/>
              </a:rPr>
              <a:t>• Демо-ипотека: сумма, ставка, платёж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5A6B5E"/>
                </a:solidFill>
                <a:latin typeface="Calibri"/>
              </a:rPr>
              <a:t>• Остаток долга и график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5A6B5E"/>
                </a:solidFill>
                <a:latin typeface="Calibri"/>
              </a:rPr>
              <a:t>• Калькуляторы сервисов на демо-данных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5A6B5E"/>
                </a:solidFill>
                <a:latin typeface="Calibri"/>
              </a:rPr>
              <a:t>• Регистрация не нужна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5A6B5E"/>
                </a:solidFill>
                <a:latin typeface="Calibri"/>
              </a:rPr>
              <a:t>• источник: DEMO_MORTGAGE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54480"/>
            <a:ext cx="5394960" cy="4206240"/>
          </a:xfrm>
          <a:prstGeom prst="roundRect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7373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C83D"/>
                </a:solidFill>
                <a:latin typeface="Calibri"/>
              </a:rPr>
              <a:t>КЛИЕНТ · личный кабинет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• Вход по логину/паролю → токен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• Реальная ипотека из БД (контур банка)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• Остаток, ставка, страхование, даты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• Действия: «запланировать досрочку»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• источник: source = bank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9E4A"/>
                </a:solidFill>
                <a:latin typeface="Calibri"/>
              </a:rPr>
              <a:t>API один: GET /api/life/context — контент определяется наличием токена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Модель данных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D8F0DE"/>
                </a:solidFill>
                <a:latin typeface="Calibri"/>
              </a:rPr>
              <a:t>8 таблиц PostgreSQL, SQLAlchemy 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FFC83D"/>
                </a:solidFill>
                <a:latin typeface="Calibri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394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2763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E9E4A"/>
                </a:solidFill>
                <a:latin typeface="Consolas"/>
              </a:rPr>
              <a:t>users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логины, хэши PBKDF2, админ-флаг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554480"/>
            <a:ext cx="5394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2763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E9E4A"/>
                </a:solidFill>
                <a:latin typeface="Consolas"/>
              </a:rPr>
              <a:t>mortgages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ипотеки клиентов: долг, ставка, платежи, страхование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97480"/>
            <a:ext cx="5394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7063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E9E4A"/>
                </a:solidFill>
                <a:latin typeface="Consolas"/>
              </a:rPr>
              <a:t>sim_scenarios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сценарии: params_schema, formulas, hints (JSON)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697480"/>
            <a:ext cx="5394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7063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E9E4A"/>
                </a:solidFill>
                <a:latin typeface="Consolas"/>
              </a:rPr>
              <a:t>sim_calculations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история расчётов с вводом и результатом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5394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1363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E9E4A"/>
                </a:solidFill>
                <a:latin typeface="Consolas"/>
              </a:rPr>
              <a:t>nav_scenarios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маршруты: шаги, чек-листы, советы (JSON)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3840480"/>
            <a:ext cx="5394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91363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E9E4A"/>
                </a:solidFill>
                <a:latin typeface="Consolas"/>
              </a:rPr>
              <a:t>nav_progress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отметки чек-листов по пользователям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983480"/>
            <a:ext cx="5394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05663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E9E4A"/>
                </a:solidFill>
                <a:latin typeface="Consolas"/>
              </a:rPr>
              <a:t>life_services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сервисы: инструкции, документы, калькуляторы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983480"/>
            <a:ext cx="5394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505663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E9E4A"/>
                </a:solidFill>
                <a:latin typeface="Consolas"/>
              </a:rPr>
              <a:t>life_actions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запланированные действия клиентов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Развёртывание: Docker Compose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D8F0DE"/>
                </a:solidFill>
                <a:latin typeface="Calibri"/>
              </a:rPr>
              <a:t>git clone → docker compose up → готово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FFC83D"/>
                </a:solidFill>
                <a:latin typeface="Calibri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852160" cy="2377440"/>
          </a:xfrm>
          <a:prstGeom prst="roundRect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onsolas"/>
              </a:rPr>
              <a:t>$ git clone &lt;repo&gt;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onsolas"/>
              </a:rPr>
              <a:t>$ cd rshb-dom-platform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FFC83D"/>
                </a:solidFill>
                <a:latin typeface="Consolas"/>
              </a:rPr>
              <a:t>$ docker compose up --build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FC83D"/>
                </a:solidFill>
                <a:latin typeface="Consolas"/>
              </a:rPr>
              <a:t>→ http://localhost:8078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1E9E4A"/>
                </a:solidFill>
                <a:latin typeface="Calibri"/>
              </a:rPr>
              <a:t>api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FastAPI + uvicorn, порт 8078, сборка из Dockerfile (python:3.11-slim)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83479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1E9E4A"/>
                </a:solidFill>
                <a:latin typeface="Calibri"/>
              </a:rPr>
              <a:t>db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PostgreSQL 16 Alpine + том pgdata + healthcheck pg_isready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1E9E4A"/>
                </a:solidFill>
                <a:latin typeface="Calibri"/>
              </a:rPr>
              <a:t>автосхема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A6B5E"/>
                </a:solidFill>
                <a:latin typeface="Calibri"/>
              </a:rPr>
              <a:t>таблицы и сиды применяются при старте — миграций вручную нет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554480"/>
            <a:ext cx="50292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E9E4A"/>
                </a:solidFill>
                <a:latin typeface="Calibri"/>
              </a:rPr>
              <a:t>Почему это надёжно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• Один compose-файл: среда воспроизводима у любого ревьюера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• БД в томе: данные переживают перезапуск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• Сборка кэшируется слоями — быстрые пересборки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• Swagger /docs — документация API из кода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5A6B5E"/>
                </a:solidFill>
                <a:latin typeface="Calibri"/>
              </a:rPr>
              <a:t>• Тот же код работает на SQLite без Docker (dev-режим)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14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4663440"/>
            <a:ext cx="3657600" cy="3657600"/>
          </a:xfrm>
          <a:prstGeom prst="ellipse">
            <a:avLst/>
          </a:prstGeom>
          <a:solidFill>
            <a:srgbClr val="14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Итоги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C83D"/>
                </a:solidFill>
                <a:latin typeface="Calibri"/>
              </a:rPr>
              <a:t>3 задачи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FE8D6"/>
                </a:solidFill>
                <a:latin typeface="Calibri"/>
              </a:rPr>
              <a:t>в одном приложении — полностью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92024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C83D"/>
                </a:solidFill>
                <a:latin typeface="Calibri"/>
              </a:rPr>
              <a:t>6 сценариев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FE8D6"/>
                </a:solidFill>
                <a:latin typeface="Calibri"/>
              </a:rPr>
              <a:t>финансового моделирования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92024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C83D"/>
                </a:solidFill>
                <a:latin typeface="Calibri"/>
              </a:rPr>
              <a:t>7 маршрутов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FE8D6"/>
                </a:solidFill>
                <a:latin typeface="Calibri"/>
              </a:rPr>
              <a:t>навигатора, 238 пунктов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C83D"/>
                </a:solidFill>
                <a:latin typeface="Calibri"/>
              </a:rPr>
              <a:t>10 сервисов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FE8D6"/>
                </a:solidFill>
                <a:latin typeface="Calibri"/>
              </a:rPr>
              <a:t>«после ипотеки», 2 контура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93192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C83D"/>
                </a:solidFill>
                <a:latin typeface="Calibri"/>
              </a:rPr>
              <a:t>40 тестов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FE8D6"/>
                </a:solidFill>
                <a:latin typeface="Calibri"/>
              </a:rPr>
              <a:t>API + фронтенд, все зелёные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93192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C83D"/>
                </a:solidFill>
                <a:latin typeface="Calibri"/>
              </a:rPr>
              <a:t>1 команда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FE8D6"/>
                </a:solidFill>
                <a:latin typeface="Calibri"/>
              </a:rPr>
              <a:t>docker compose 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A8CCB2"/>
                </a:solidFill>
                <a:latin typeface="Calibri"/>
              </a:rPr>
              <a:t>Полный код, README и техническая документация — в репозитории 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